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2011680"/>
            <a:ext cx="10515600" cy="1463040"/>
          </a:xfrm>
          <a:prstGeom prst="rect">
            <a:avLst/>
          </a:prstGeom>
          <a:noFill/>
        </p:spPr>
        <p:txBody>
          <a:bodyPr wrap="square">
            <a:spAutoFit/>
          </a:bodyPr>
          <a:lstStyle/>
          <a:p>
            <a:pPr algn="l"/>
            <a:r>
              <a:rPr sz="4400" b="1">
                <a:solidFill>
                  <a:srgbClr val="FFFFFF"/>
                </a:solidFill>
                <a:latin typeface="Trebuchet MS"/>
              </a:rPr>
              <a:t>Where the Conversion Leaks Are</a:t>
            </a:r>
          </a:p>
        </p:txBody>
      </p:sp>
      <p:sp>
        <p:nvSpPr>
          <p:cNvPr id="3" name="TextBox 2"/>
          <p:cNvSpPr txBox="1"/>
          <p:nvPr/>
        </p:nvSpPr>
        <p:spPr>
          <a:xfrm>
            <a:off x="822960" y="3200400"/>
            <a:ext cx="10515600" cy="548640"/>
          </a:xfrm>
          <a:prstGeom prst="rect">
            <a:avLst/>
          </a:prstGeom>
          <a:noFill/>
        </p:spPr>
        <p:txBody>
          <a:bodyPr wrap="square">
            <a:spAutoFit/>
          </a:bodyPr>
          <a:lstStyle/>
          <a:p>
            <a:pPr algn="l"/>
            <a:r>
              <a:rPr sz="1800" b="0">
                <a:solidFill>
                  <a:srgbClr val="3DB891"/>
                </a:solidFill>
                <a:latin typeface="Trebuchet MS"/>
              </a:rPr>
              <a:t>example.com  ·  CRO Recommendations  ·  August 2026</a:t>
            </a:r>
          </a:p>
        </p:txBody>
      </p:sp>
      <p:sp>
        <p:nvSpPr>
          <p:cNvPr id="4" name="TextBox 3"/>
          <p:cNvSpPr txBox="1"/>
          <p:nvPr/>
        </p:nvSpPr>
        <p:spPr>
          <a:xfrm>
            <a:off x="822960" y="4206240"/>
            <a:ext cx="10515600" cy="548640"/>
          </a:xfrm>
          <a:prstGeom prst="rect">
            <a:avLst/>
          </a:prstGeom>
          <a:noFill/>
        </p:spPr>
        <p:txBody>
          <a:bodyPr wrap="square">
            <a:spAutoFit/>
          </a:bodyPr>
          <a:lstStyle/>
          <a:p>
            <a:pPr algn="l"/>
            <a:r>
              <a:rPr sz="1500" b="0">
                <a:solidFill>
                  <a:srgbClr val="7A9E8E"/>
                </a:solidFill>
                <a:latin typeface="Trebuchet MS"/>
              </a:rPr>
              <a:t>Overall grade B (82/100)  ·  6 findings  ·  6 verified by measurement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548640"/>
            <a:ext cx="10515600" cy="457200"/>
          </a:xfrm>
          <a:prstGeom prst="rect">
            <a:avLst/>
          </a:prstGeom>
          <a:noFill/>
        </p:spPr>
        <p:txBody>
          <a:bodyPr wrap="square">
            <a:spAutoFit/>
          </a:bodyPr>
          <a:lstStyle/>
          <a:p>
            <a:pPr algn="l"/>
            <a:r>
              <a:rPr sz="1300" b="1">
                <a:solidFill>
                  <a:srgbClr val="3DB891"/>
                </a:solidFill>
                <a:latin typeface="Trebuchet MS"/>
              </a:rPr>
              <a:t>THE CORE FINDING</a:t>
            </a:r>
          </a:p>
        </p:txBody>
      </p:sp>
      <p:sp>
        <p:nvSpPr>
          <p:cNvPr id="3" name="TextBox 2"/>
          <p:cNvSpPr txBox="1"/>
          <p:nvPr/>
        </p:nvSpPr>
        <p:spPr>
          <a:xfrm>
            <a:off x="822960" y="1188720"/>
            <a:ext cx="10515600" cy="2011680"/>
          </a:xfrm>
          <a:prstGeom prst="rect">
            <a:avLst/>
          </a:prstGeom>
          <a:noFill/>
        </p:spPr>
        <p:txBody>
          <a:bodyPr wrap="square">
            <a:spAutoFit/>
          </a:bodyPr>
          <a:lstStyle/>
          <a:p>
            <a:pPr algn="l"/>
            <a:r>
              <a:rPr sz="2200" b="0">
                <a:solidFill>
                  <a:srgbClr val="FFFFFF"/>
                </a:solidFill>
                <a:latin typeface="Trebuchet MS"/>
              </a:rPr>
              <a:t>The single most valuable conversion mechanism on this site, mobile user engagement, is bleeding value because the site lacks a responsive viewport. Without this critical meta tag, mobile browsers render the desktop layout scaled down, making every tap target too small and hindering user interaction.</a:t>
            </a:r>
          </a:p>
        </p:txBody>
      </p:sp>
      <p:sp>
        <p:nvSpPr>
          <p:cNvPr id="4" name="TextBox 3"/>
          <p:cNvSpPr txBox="1"/>
          <p:nvPr/>
        </p:nvSpPr>
        <p:spPr>
          <a:xfrm>
            <a:off x="822960" y="3840480"/>
            <a:ext cx="10515600" cy="731520"/>
          </a:xfrm>
          <a:prstGeom prst="rect">
            <a:avLst/>
          </a:prstGeom>
          <a:noFill/>
        </p:spPr>
        <p:txBody>
          <a:bodyPr wrap="square">
            <a:spAutoFit/>
          </a:bodyPr>
          <a:lstStyle/>
          <a:p>
            <a:pPr algn="l"/>
            <a:r>
              <a:rPr sz="3000" b="1">
                <a:solidFill>
                  <a:srgbClr val="3DB891"/>
                </a:solidFill>
                <a:latin typeface="Trebuchet MS"/>
              </a:rPr>
              <a:t>1.4–6.0 orders per 1,000 visitors</a:t>
            </a:r>
          </a:p>
        </p:txBody>
      </p:sp>
      <p:sp>
        <p:nvSpPr>
          <p:cNvPr id="5" name="TextBox 4"/>
          <p:cNvSpPr txBox="1"/>
          <p:nvPr/>
        </p:nvSpPr>
        <p:spPr>
          <a:xfrm>
            <a:off x="822960" y="4663440"/>
            <a:ext cx="10515600" cy="1280160"/>
          </a:xfrm>
          <a:prstGeom prst="rect">
            <a:avLst/>
          </a:prstGeom>
          <a:noFill/>
        </p:spPr>
        <p:txBody>
          <a:bodyPr wrap="square">
            <a:spAutoFit/>
          </a:bodyPr>
          <a:lstStyle/>
          <a:p>
            <a:pPr algn="l"/>
            <a:r>
              <a:rPr sz="1200" b="0">
                <a:solidFill>
                  <a:srgbClr val="7A9E8E"/>
                </a:solidFill>
                <a:latin typeface="Trebuchet MS"/>
              </a:rPr>
              <a:t>Sized opportunity if every change ships and wins — an assumption-bounded range, not a forecast. Roughly 10–30% of A/B tests produce a significant win. The arithmetic for every figure is in the full report.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10515600" cy="457200"/>
          </a:xfrm>
          <a:prstGeom prst="rect">
            <a:avLst/>
          </a:prstGeom>
          <a:noFill/>
        </p:spPr>
        <p:txBody>
          <a:bodyPr wrap="square">
            <a:spAutoFit/>
          </a:bodyPr>
          <a:lstStyle/>
          <a:p>
            <a:pPr algn="l"/>
            <a:r>
              <a:rPr sz="1300" b="1">
                <a:solidFill>
                  <a:srgbClr val="3DB891"/>
                </a:solidFill>
                <a:latin typeface="Trebuchet MS"/>
              </a:rPr>
              <a:t>PRIORITISED FINDINGS</a:t>
            </a:r>
          </a:p>
        </p:txBody>
      </p:sp>
      <p:sp>
        <p:nvSpPr>
          <p:cNvPr id="3" name="TextBox 2"/>
          <p:cNvSpPr txBox="1"/>
          <p:nvPr/>
        </p:nvSpPr>
        <p:spPr>
          <a:xfrm>
            <a:off x="822960" y="1097280"/>
            <a:ext cx="548640" cy="365760"/>
          </a:xfrm>
          <a:prstGeom prst="rect">
            <a:avLst/>
          </a:prstGeom>
          <a:noFill/>
        </p:spPr>
        <p:txBody>
          <a:bodyPr wrap="square">
            <a:spAutoFit/>
          </a:bodyPr>
          <a:lstStyle/>
          <a:p>
            <a:pPr algn="l"/>
            <a:r>
              <a:rPr sz="1600" b="1">
                <a:solidFill>
                  <a:srgbClr val="008061"/>
                </a:solidFill>
                <a:latin typeface="Trebuchet MS"/>
              </a:rPr>
              <a:t>1</a:t>
            </a:r>
          </a:p>
        </p:txBody>
      </p:sp>
      <p:sp>
        <p:nvSpPr>
          <p:cNvPr id="4" name="TextBox 3"/>
          <p:cNvSpPr txBox="1"/>
          <p:nvPr/>
        </p:nvSpPr>
        <p:spPr>
          <a:xfrm>
            <a:off x="1371600" y="1097280"/>
            <a:ext cx="6949440" cy="365760"/>
          </a:xfrm>
          <a:prstGeom prst="rect">
            <a:avLst/>
          </a:prstGeom>
          <a:noFill/>
        </p:spPr>
        <p:txBody>
          <a:bodyPr wrap="square">
            <a:spAutoFit/>
          </a:bodyPr>
          <a:lstStyle/>
          <a:p>
            <a:pPr algn="l"/>
            <a:r>
              <a:rPr sz="1600" b="1">
                <a:solidFill>
                  <a:srgbClr val="FFFFFF"/>
                </a:solidFill>
                <a:latin typeface="Trebuchet MS"/>
              </a:rPr>
              <a:t>Missing security headers</a:t>
            </a:r>
          </a:p>
        </p:txBody>
      </p:sp>
      <p:sp>
        <p:nvSpPr>
          <p:cNvPr id="5" name="TextBox 4"/>
          <p:cNvSpPr txBox="1"/>
          <p:nvPr/>
        </p:nvSpPr>
        <p:spPr>
          <a:xfrm>
            <a:off x="8412480" y="1097280"/>
            <a:ext cx="2926080" cy="365760"/>
          </a:xfrm>
          <a:prstGeom prst="rect">
            <a:avLst/>
          </a:prstGeom>
          <a:noFill/>
        </p:spPr>
        <p:txBody>
          <a:bodyPr wrap="square">
            <a:spAutoFit/>
          </a:bodyPr>
          <a:lstStyle/>
          <a:p>
            <a:pPr algn="l"/>
            <a:r>
              <a:rPr sz="1200" b="0">
                <a:solidFill>
                  <a:srgbClr val="7A9E8E"/>
                </a:solidFill>
                <a:latin typeface="Trebuchet MS"/>
              </a:rPr>
              <a:t>Medium · Medium · PXL 6/10</a:t>
            </a:r>
          </a:p>
        </p:txBody>
      </p:sp>
      <p:sp>
        <p:nvSpPr>
          <p:cNvPr id="6" name="TextBox 5"/>
          <p:cNvSpPr txBox="1"/>
          <p:nvPr/>
        </p:nvSpPr>
        <p:spPr>
          <a:xfrm>
            <a:off x="1371600" y="1664207"/>
            <a:ext cx="9966960" cy="365760"/>
          </a:xfrm>
          <a:prstGeom prst="rect">
            <a:avLst/>
          </a:prstGeom>
          <a:noFill/>
        </p:spPr>
        <p:txBody>
          <a:bodyPr wrap="square">
            <a:spAutoFit/>
          </a:bodyPr>
          <a:lstStyle/>
          <a:p>
            <a:pPr algn="l"/>
            <a:r>
              <a:rPr sz="1100" b="0">
                <a:solidFill>
                  <a:srgbClr val="7A9E8E"/>
                </a:solidFill>
                <a:latin typeface="Trebuchet MS"/>
              </a:rPr>
              <a:t>6 of 6 standard security headers are absent, which weakens protection against XSS, clickjacking and downgrade attacks.</a:t>
            </a:r>
          </a:p>
        </p:txBody>
      </p:sp>
      <p:sp>
        <p:nvSpPr>
          <p:cNvPr id="7" name="TextBox 6"/>
          <p:cNvSpPr txBox="1"/>
          <p:nvPr/>
        </p:nvSpPr>
        <p:spPr>
          <a:xfrm>
            <a:off x="822960" y="2167128"/>
            <a:ext cx="548640" cy="365760"/>
          </a:xfrm>
          <a:prstGeom prst="rect">
            <a:avLst/>
          </a:prstGeom>
          <a:noFill/>
        </p:spPr>
        <p:txBody>
          <a:bodyPr wrap="square">
            <a:spAutoFit/>
          </a:bodyPr>
          <a:lstStyle/>
          <a:p>
            <a:pPr algn="l"/>
            <a:r>
              <a:rPr sz="1600" b="1">
                <a:solidFill>
                  <a:srgbClr val="008061"/>
                </a:solidFill>
                <a:latin typeface="Trebuchet MS"/>
              </a:rPr>
              <a:t>2</a:t>
            </a:r>
          </a:p>
        </p:txBody>
      </p:sp>
      <p:sp>
        <p:nvSpPr>
          <p:cNvPr id="8" name="TextBox 7"/>
          <p:cNvSpPr txBox="1"/>
          <p:nvPr/>
        </p:nvSpPr>
        <p:spPr>
          <a:xfrm>
            <a:off x="1371600" y="2167128"/>
            <a:ext cx="6949440" cy="365760"/>
          </a:xfrm>
          <a:prstGeom prst="rect">
            <a:avLst/>
          </a:prstGeom>
          <a:noFill/>
        </p:spPr>
        <p:txBody>
          <a:bodyPr wrap="square">
            <a:spAutoFit/>
          </a:bodyPr>
          <a:lstStyle/>
          <a:p>
            <a:pPr algn="l"/>
            <a:r>
              <a:rPr sz="1600" b="1">
                <a:solidFill>
                  <a:srgbClr val="FFFFFF"/>
                </a:solidFill>
                <a:latin typeface="Trebuchet MS"/>
              </a:rPr>
              <a:t>Weak page metadata</a:t>
            </a:r>
          </a:p>
        </p:txBody>
      </p:sp>
      <p:sp>
        <p:nvSpPr>
          <p:cNvPr id="9" name="TextBox 8"/>
          <p:cNvSpPr txBox="1"/>
          <p:nvPr/>
        </p:nvSpPr>
        <p:spPr>
          <a:xfrm>
            <a:off x="8412480" y="2167128"/>
            <a:ext cx="2926080" cy="365760"/>
          </a:xfrm>
          <a:prstGeom prst="rect">
            <a:avLst/>
          </a:prstGeom>
          <a:noFill/>
        </p:spPr>
        <p:txBody>
          <a:bodyPr wrap="square">
            <a:spAutoFit/>
          </a:bodyPr>
          <a:lstStyle/>
          <a:p>
            <a:pPr algn="l"/>
            <a:r>
              <a:rPr sz="1200" b="0">
                <a:solidFill>
                  <a:srgbClr val="7A9E8E"/>
                </a:solidFill>
                <a:latin typeface="Trebuchet MS"/>
              </a:rPr>
              <a:t>Medium · Medium · PXL 5/10</a:t>
            </a:r>
          </a:p>
        </p:txBody>
      </p:sp>
      <p:sp>
        <p:nvSpPr>
          <p:cNvPr id="10" name="TextBox 9"/>
          <p:cNvSpPr txBox="1"/>
          <p:nvPr/>
        </p:nvSpPr>
        <p:spPr>
          <a:xfrm>
            <a:off x="1371600" y="2734056"/>
            <a:ext cx="9966960" cy="365760"/>
          </a:xfrm>
          <a:prstGeom prst="rect">
            <a:avLst/>
          </a:prstGeom>
          <a:noFill/>
        </p:spPr>
        <p:txBody>
          <a:bodyPr wrap="square">
            <a:spAutoFit/>
          </a:bodyPr>
          <a:lstStyle/>
          <a:p>
            <a:pPr algn="l"/>
            <a:r>
              <a:rPr sz="1100" b="0">
                <a:solidFill>
                  <a:srgbClr val="7A9E8E"/>
                </a:solidFill>
                <a:latin typeface="Trebuchet MS"/>
              </a:rPr>
              <a:t>Search and social previews are degraded: page title (absent), meta description, Open Graph tags are missing or outside r</a:t>
            </a:r>
          </a:p>
        </p:txBody>
      </p:sp>
      <p:sp>
        <p:nvSpPr>
          <p:cNvPr id="11" name="TextBox 10"/>
          <p:cNvSpPr txBox="1"/>
          <p:nvPr/>
        </p:nvSpPr>
        <p:spPr>
          <a:xfrm>
            <a:off x="822960" y="3236976"/>
            <a:ext cx="548640" cy="365760"/>
          </a:xfrm>
          <a:prstGeom prst="rect">
            <a:avLst/>
          </a:prstGeom>
          <a:noFill/>
        </p:spPr>
        <p:txBody>
          <a:bodyPr wrap="square">
            <a:spAutoFit/>
          </a:bodyPr>
          <a:lstStyle/>
          <a:p>
            <a:pPr algn="l"/>
            <a:r>
              <a:rPr sz="1600" b="1">
                <a:solidFill>
                  <a:srgbClr val="008061"/>
                </a:solidFill>
                <a:latin typeface="Trebuchet MS"/>
              </a:rPr>
              <a:t>3</a:t>
            </a:r>
          </a:p>
        </p:txBody>
      </p:sp>
      <p:sp>
        <p:nvSpPr>
          <p:cNvPr id="12" name="TextBox 11"/>
          <p:cNvSpPr txBox="1"/>
          <p:nvPr/>
        </p:nvSpPr>
        <p:spPr>
          <a:xfrm>
            <a:off x="1371600" y="3236976"/>
            <a:ext cx="6949440" cy="365760"/>
          </a:xfrm>
          <a:prstGeom prst="rect">
            <a:avLst/>
          </a:prstGeom>
          <a:noFill/>
        </p:spPr>
        <p:txBody>
          <a:bodyPr wrap="square">
            <a:spAutoFit/>
          </a:bodyPr>
          <a:lstStyle/>
          <a:p>
            <a:pPr algn="l"/>
            <a:r>
              <a:rPr sz="1600" b="1">
                <a:solidFill>
                  <a:srgbClr val="FFFFFF"/>
                </a:solidFill>
                <a:latin typeface="Trebuchet MS"/>
              </a:rPr>
              <a:t>Missing trust signals above the fold</a:t>
            </a:r>
          </a:p>
        </p:txBody>
      </p:sp>
      <p:sp>
        <p:nvSpPr>
          <p:cNvPr id="13" name="TextBox 12"/>
          <p:cNvSpPr txBox="1"/>
          <p:nvPr/>
        </p:nvSpPr>
        <p:spPr>
          <a:xfrm>
            <a:off x="8412480" y="3236976"/>
            <a:ext cx="2926080" cy="365760"/>
          </a:xfrm>
          <a:prstGeom prst="rect">
            <a:avLst/>
          </a:prstGeom>
          <a:noFill/>
        </p:spPr>
        <p:txBody>
          <a:bodyPr wrap="square">
            <a:spAutoFit/>
          </a:bodyPr>
          <a:lstStyle/>
          <a:p>
            <a:pPr algn="l"/>
            <a:r>
              <a:rPr sz="1200" b="0">
                <a:solidFill>
                  <a:srgbClr val="7A9E8E"/>
                </a:solidFill>
                <a:latin typeface="Trebuchet MS"/>
              </a:rPr>
              <a:t>High · Medium · PXL 5/10</a:t>
            </a:r>
          </a:p>
        </p:txBody>
      </p:sp>
      <p:sp>
        <p:nvSpPr>
          <p:cNvPr id="14" name="TextBox 13"/>
          <p:cNvSpPr txBox="1"/>
          <p:nvPr/>
        </p:nvSpPr>
        <p:spPr>
          <a:xfrm>
            <a:off x="1371600" y="3803904"/>
            <a:ext cx="9966960" cy="365760"/>
          </a:xfrm>
          <a:prstGeom prst="rect">
            <a:avLst/>
          </a:prstGeom>
          <a:noFill/>
        </p:spPr>
        <p:txBody>
          <a:bodyPr wrap="square">
            <a:spAutoFit/>
          </a:bodyPr>
          <a:lstStyle/>
          <a:p>
            <a:pPr algn="l"/>
            <a:r>
              <a:rPr sz="1100" b="0">
                <a:solidFill>
                  <a:srgbClr val="7A9E8E"/>
                </a:solidFill>
                <a:latin typeface="Trebuchet MS"/>
              </a:rPr>
              <a:t>The homepage shows no sign of returns policy, guarantee, reviews, security badge, so a first-time visitor has nothing to</a:t>
            </a:r>
          </a:p>
        </p:txBody>
      </p:sp>
      <p:sp>
        <p:nvSpPr>
          <p:cNvPr id="15" name="TextBox 14"/>
          <p:cNvSpPr txBox="1"/>
          <p:nvPr/>
        </p:nvSpPr>
        <p:spPr>
          <a:xfrm>
            <a:off x="822960" y="4306824"/>
            <a:ext cx="548640" cy="365760"/>
          </a:xfrm>
          <a:prstGeom prst="rect">
            <a:avLst/>
          </a:prstGeom>
          <a:noFill/>
        </p:spPr>
        <p:txBody>
          <a:bodyPr wrap="square">
            <a:spAutoFit/>
          </a:bodyPr>
          <a:lstStyle/>
          <a:p>
            <a:pPr algn="l"/>
            <a:r>
              <a:rPr sz="1600" b="1">
                <a:solidFill>
                  <a:srgbClr val="C0392B"/>
                </a:solidFill>
                <a:latin typeface="Trebuchet MS"/>
              </a:rPr>
              <a:t>4</a:t>
            </a:r>
          </a:p>
        </p:txBody>
      </p:sp>
      <p:sp>
        <p:nvSpPr>
          <p:cNvPr id="16" name="TextBox 15"/>
          <p:cNvSpPr txBox="1"/>
          <p:nvPr/>
        </p:nvSpPr>
        <p:spPr>
          <a:xfrm>
            <a:off x="1371600" y="4306824"/>
            <a:ext cx="6949440" cy="365760"/>
          </a:xfrm>
          <a:prstGeom prst="rect">
            <a:avLst/>
          </a:prstGeom>
          <a:noFill/>
        </p:spPr>
        <p:txBody>
          <a:bodyPr wrap="square">
            <a:spAutoFit/>
          </a:bodyPr>
          <a:lstStyle/>
          <a:p>
            <a:pPr algn="l"/>
            <a:r>
              <a:rPr sz="1600" b="1">
                <a:solidFill>
                  <a:srgbClr val="FFFFFF"/>
                </a:solidFill>
                <a:latin typeface="Trebuchet MS"/>
              </a:rPr>
              <a:t>No responsive viewport</a:t>
            </a:r>
          </a:p>
        </p:txBody>
      </p:sp>
      <p:sp>
        <p:nvSpPr>
          <p:cNvPr id="17" name="TextBox 16"/>
          <p:cNvSpPr txBox="1"/>
          <p:nvPr/>
        </p:nvSpPr>
        <p:spPr>
          <a:xfrm>
            <a:off x="8412480" y="4306824"/>
            <a:ext cx="2926080" cy="365760"/>
          </a:xfrm>
          <a:prstGeom prst="rect">
            <a:avLst/>
          </a:prstGeom>
          <a:noFill/>
        </p:spPr>
        <p:txBody>
          <a:bodyPr wrap="square">
            <a:spAutoFit/>
          </a:bodyPr>
          <a:lstStyle/>
          <a:p>
            <a:pPr algn="l"/>
            <a:r>
              <a:rPr sz="1200" b="0">
                <a:solidFill>
                  <a:srgbClr val="7A9E8E"/>
                </a:solidFill>
                <a:latin typeface="Trebuchet MS"/>
              </a:rPr>
              <a:t>Urgent · Medium · PXL 4/10</a:t>
            </a:r>
          </a:p>
        </p:txBody>
      </p:sp>
      <p:sp>
        <p:nvSpPr>
          <p:cNvPr id="18" name="TextBox 17"/>
          <p:cNvSpPr txBox="1"/>
          <p:nvPr/>
        </p:nvSpPr>
        <p:spPr>
          <a:xfrm>
            <a:off x="1371600" y="4873752"/>
            <a:ext cx="9966960" cy="365760"/>
          </a:xfrm>
          <a:prstGeom prst="rect">
            <a:avLst/>
          </a:prstGeom>
          <a:noFill/>
        </p:spPr>
        <p:txBody>
          <a:bodyPr wrap="square">
            <a:spAutoFit/>
          </a:bodyPr>
          <a:lstStyle/>
          <a:p>
            <a:pPr algn="l"/>
            <a:r>
              <a:rPr sz="1100" b="0">
                <a:solidFill>
                  <a:srgbClr val="7A9E8E"/>
                </a:solidFill>
                <a:latin typeface="Trebuchet MS"/>
              </a:rPr>
              <a:t>Without a viewport meta tag mobile browsers render the desktop layout scaled down, making every tap target too small.</a:t>
            </a:r>
          </a:p>
        </p:txBody>
      </p:sp>
      <p:sp>
        <p:nvSpPr>
          <p:cNvPr id="19" name="TextBox 18"/>
          <p:cNvSpPr txBox="1"/>
          <p:nvPr/>
        </p:nvSpPr>
        <p:spPr>
          <a:xfrm>
            <a:off x="822960" y="5376672"/>
            <a:ext cx="548640" cy="365760"/>
          </a:xfrm>
          <a:prstGeom prst="rect">
            <a:avLst/>
          </a:prstGeom>
          <a:noFill/>
        </p:spPr>
        <p:txBody>
          <a:bodyPr wrap="square">
            <a:spAutoFit/>
          </a:bodyPr>
          <a:lstStyle/>
          <a:p>
            <a:pPr algn="l"/>
            <a:r>
              <a:rPr sz="1600" b="1">
                <a:solidFill>
                  <a:srgbClr val="C0392B"/>
                </a:solidFill>
                <a:latin typeface="Trebuchet MS"/>
              </a:rPr>
              <a:t>5</a:t>
            </a:r>
          </a:p>
        </p:txBody>
      </p:sp>
      <p:sp>
        <p:nvSpPr>
          <p:cNvPr id="20" name="TextBox 19"/>
          <p:cNvSpPr txBox="1"/>
          <p:nvPr/>
        </p:nvSpPr>
        <p:spPr>
          <a:xfrm>
            <a:off x="1371600" y="5376672"/>
            <a:ext cx="6949440" cy="365760"/>
          </a:xfrm>
          <a:prstGeom prst="rect">
            <a:avLst/>
          </a:prstGeom>
          <a:noFill/>
        </p:spPr>
        <p:txBody>
          <a:bodyPr wrap="square">
            <a:spAutoFit/>
          </a:bodyPr>
          <a:lstStyle/>
          <a:p>
            <a:pPr algn="l"/>
            <a:r>
              <a:rPr sz="1600" b="1">
                <a:solidFill>
                  <a:srgbClr val="FFFFFF"/>
                </a:solidFill>
                <a:latin typeface="Trebuchet MS"/>
              </a:rPr>
              <a:t>No responsive viewport declared</a:t>
            </a:r>
          </a:p>
        </p:txBody>
      </p:sp>
      <p:sp>
        <p:nvSpPr>
          <p:cNvPr id="21" name="TextBox 20"/>
          <p:cNvSpPr txBox="1"/>
          <p:nvPr/>
        </p:nvSpPr>
        <p:spPr>
          <a:xfrm>
            <a:off x="8412480" y="5376672"/>
            <a:ext cx="2926080" cy="365760"/>
          </a:xfrm>
          <a:prstGeom prst="rect">
            <a:avLst/>
          </a:prstGeom>
          <a:noFill/>
        </p:spPr>
        <p:txBody>
          <a:bodyPr wrap="square">
            <a:spAutoFit/>
          </a:bodyPr>
          <a:lstStyle/>
          <a:p>
            <a:pPr algn="l"/>
            <a:r>
              <a:rPr sz="1200" b="0">
                <a:solidFill>
                  <a:srgbClr val="7A9E8E"/>
                </a:solidFill>
                <a:latin typeface="Trebuchet MS"/>
              </a:rPr>
              <a:t>Urgent · Medium · PXL 4/10</a:t>
            </a:r>
          </a:p>
        </p:txBody>
      </p:sp>
      <p:sp>
        <p:nvSpPr>
          <p:cNvPr id="22" name="TextBox 21"/>
          <p:cNvSpPr txBox="1"/>
          <p:nvPr/>
        </p:nvSpPr>
        <p:spPr>
          <a:xfrm>
            <a:off x="1371600" y="5943600"/>
            <a:ext cx="9966960" cy="365760"/>
          </a:xfrm>
          <a:prstGeom prst="rect">
            <a:avLst/>
          </a:prstGeom>
          <a:noFill/>
        </p:spPr>
        <p:txBody>
          <a:bodyPr wrap="square">
            <a:spAutoFit/>
          </a:bodyPr>
          <a:lstStyle/>
          <a:p>
            <a:pPr algn="l"/>
            <a:r>
              <a:rPr sz="1100" b="0">
                <a:solidFill>
                  <a:srgbClr val="7A9E8E"/>
                </a:solidFill>
                <a:latin typeface="Trebuchet MS"/>
              </a:rPr>
              <a:t>Without a viewport meta tag mobile browsers render the desktop layout scaled down, making every tap target too small.</a:t>
            </a:r>
          </a:p>
        </p:txBody>
      </p:sp>
      <p:sp>
        <p:nvSpPr>
          <p:cNvPr id="23" name="TextBox 22"/>
          <p:cNvSpPr txBox="1"/>
          <p:nvPr/>
        </p:nvSpPr>
        <p:spPr>
          <a:xfrm>
            <a:off x="822960" y="6446520"/>
            <a:ext cx="548640" cy="365760"/>
          </a:xfrm>
          <a:prstGeom prst="rect">
            <a:avLst/>
          </a:prstGeom>
          <a:noFill/>
        </p:spPr>
        <p:txBody>
          <a:bodyPr wrap="square">
            <a:spAutoFit/>
          </a:bodyPr>
          <a:lstStyle/>
          <a:p>
            <a:pPr algn="l"/>
            <a:r>
              <a:rPr sz="1600" b="1">
                <a:solidFill>
                  <a:srgbClr val="008061"/>
                </a:solidFill>
                <a:latin typeface="Trebuchet MS"/>
              </a:rPr>
              <a:t>6</a:t>
            </a:r>
          </a:p>
        </p:txBody>
      </p:sp>
      <p:sp>
        <p:nvSpPr>
          <p:cNvPr id="24" name="TextBox 23"/>
          <p:cNvSpPr txBox="1"/>
          <p:nvPr/>
        </p:nvSpPr>
        <p:spPr>
          <a:xfrm>
            <a:off x="1371600" y="6446520"/>
            <a:ext cx="6949440" cy="365760"/>
          </a:xfrm>
          <a:prstGeom prst="rect">
            <a:avLst/>
          </a:prstGeom>
          <a:noFill/>
        </p:spPr>
        <p:txBody>
          <a:bodyPr wrap="square">
            <a:spAutoFit/>
          </a:bodyPr>
          <a:lstStyle/>
          <a:p>
            <a:pPr algn="l"/>
            <a:r>
              <a:rPr sz="1600" b="1">
                <a:solidFill>
                  <a:srgbClr val="FFFFFF"/>
                </a:solidFill>
                <a:latin typeface="Trebuchet MS"/>
              </a:rPr>
              <a:t>Missing trust signals</a:t>
            </a:r>
          </a:p>
        </p:txBody>
      </p:sp>
      <p:sp>
        <p:nvSpPr>
          <p:cNvPr id="25" name="TextBox 24"/>
          <p:cNvSpPr txBox="1"/>
          <p:nvPr/>
        </p:nvSpPr>
        <p:spPr>
          <a:xfrm>
            <a:off x="8412480" y="6446520"/>
            <a:ext cx="2926080" cy="365760"/>
          </a:xfrm>
          <a:prstGeom prst="rect">
            <a:avLst/>
          </a:prstGeom>
          <a:noFill/>
        </p:spPr>
        <p:txBody>
          <a:bodyPr wrap="square">
            <a:spAutoFit/>
          </a:bodyPr>
          <a:lstStyle/>
          <a:p>
            <a:pPr algn="l"/>
            <a:r>
              <a:rPr sz="1200" b="0">
                <a:solidFill>
                  <a:srgbClr val="7A9E8E"/>
                </a:solidFill>
                <a:latin typeface="Trebuchet MS"/>
              </a:rPr>
              <a:t>High · Medium · PXL 4/10</a:t>
            </a:r>
          </a:p>
        </p:txBody>
      </p:sp>
      <p:sp>
        <p:nvSpPr>
          <p:cNvPr id="26" name="TextBox 25"/>
          <p:cNvSpPr txBox="1"/>
          <p:nvPr/>
        </p:nvSpPr>
        <p:spPr>
          <a:xfrm>
            <a:off x="1371600" y="7013448"/>
            <a:ext cx="9966960" cy="365760"/>
          </a:xfrm>
          <a:prstGeom prst="rect">
            <a:avLst/>
          </a:prstGeom>
          <a:noFill/>
        </p:spPr>
        <p:txBody>
          <a:bodyPr wrap="square">
            <a:spAutoFit/>
          </a:bodyPr>
          <a:lstStyle/>
          <a:p>
            <a:pPr algn="l"/>
            <a:r>
              <a:rPr sz="1100" b="0">
                <a:solidFill>
                  <a:srgbClr val="7A9E8E"/>
                </a:solidFill>
                <a:latin typeface="Trebuchet MS"/>
              </a:rPr>
              <a:t>The homepage shows no sign of returns policy, guarantee, reviews, security badge, so a first-time visitor has nothing to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1 — Medium</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Missing security headers</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"Measured on the live origin: missing HSTS, CSP, X-Content-Type-Options, X-Frame-Options, Referrer-Policy, Permissions-Policy."</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6 of 6 standard security headers are absent, which weakens protection against XSS, clickjacking and downgrade attacks.</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0.1–0.4 orders/1k visitors if it wins  ·  effort Medium  ·  2-5 days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2 — Medium</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Weak page metadata</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"Measured on the homepage: title 0 chars (15-60 recommended); description 0 chars (70-160 recommended); og:title missing, og:image missing."</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Search and social previews are degraded: page title (absent), meta description, Open Graph tags are missing or outside recommended lengths.</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0.1–0.4 orders/1k visitors if it wins  ·  effort Medium  ·  2-5 days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3 — High</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Missing trust signals above the fold</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"Measured on the live homepage: no match for returns policy, guarantee, reviews, security badge."</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The homepage shows no sign of returns policy, guarantee, reviews, security badge, so a first-time visitor has nothing to offset purchase risk.</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0.2–1.0 orders/1k visitors if it wins  ·  effort Medium  ·  2-5 days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C0392B"/>
                </a:solidFill>
                <a:latin typeface="Trebuchet MS"/>
              </a:rPr>
              <a:t>PRIORITY 4 — Urgent</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No responsive viewport</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"Measured on the mobile render: no &lt;meta name="viewport"&gt; present."</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Without a viewport meta tag mobile browsers render the desktop layout scaled down, making every tap target too small.</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0.4–1.6 orders/1k visitors if it wins  ·  effort Medium  ·  2-5 days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C0392B"/>
                </a:solidFill>
                <a:latin typeface="Trebuchet MS"/>
              </a:rPr>
              <a:t>PRIORITY 5 — Urgent</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No responsive viewport declared</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"Measured on the mobile render: no &lt;meta name="viewport"&gt; present."</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Without a viewport meta tag mobile browsers render the desktop layout scaled down, making every tap target too small.</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0.4–1.6 orders/1k visitors if it wins  ·  effort Medium  ·  2-5 days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10515600" cy="457200"/>
          </a:xfrm>
          <a:prstGeom prst="rect">
            <a:avLst/>
          </a:prstGeom>
          <a:noFill/>
        </p:spPr>
        <p:txBody>
          <a:bodyPr wrap="square">
            <a:spAutoFit/>
          </a:bodyPr>
          <a:lstStyle/>
          <a:p>
            <a:pPr algn="l"/>
            <a:r>
              <a:rPr sz="1300" b="1">
                <a:solidFill>
                  <a:srgbClr val="3DB891"/>
                </a:solidFill>
                <a:latin typeface="Trebuchet MS"/>
              </a:rPr>
              <a:t>FOUR-WEEK ROADMAP</a:t>
            </a:r>
          </a:p>
        </p:txBody>
      </p:sp>
      <p:sp>
        <p:nvSpPr>
          <p:cNvPr id="3" name="TextBox 2"/>
          <p:cNvSpPr txBox="1"/>
          <p:nvPr/>
        </p:nvSpPr>
        <p:spPr>
          <a:xfrm>
            <a:off x="640080" y="1188720"/>
            <a:ext cx="2651760" cy="365760"/>
          </a:xfrm>
          <a:prstGeom prst="rect">
            <a:avLst/>
          </a:prstGeom>
          <a:noFill/>
        </p:spPr>
        <p:txBody>
          <a:bodyPr wrap="square">
            <a:spAutoFit/>
          </a:bodyPr>
          <a:lstStyle/>
          <a:p>
            <a:pPr algn="l"/>
            <a:r>
              <a:rPr sz="1500" b="1">
                <a:solidFill>
                  <a:srgbClr val="008061"/>
                </a:solidFill>
                <a:latin typeface="Trebuchet MS"/>
              </a:rPr>
              <a:t>Week 1</a:t>
            </a:r>
          </a:p>
        </p:txBody>
      </p:sp>
      <p:sp>
        <p:nvSpPr>
          <p:cNvPr id="4" name="TextBox 3"/>
          <p:cNvSpPr txBox="1"/>
          <p:nvPr/>
        </p:nvSpPr>
        <p:spPr>
          <a:xfrm>
            <a:off x="640080" y="1737360"/>
            <a:ext cx="2651760" cy="731520"/>
          </a:xfrm>
          <a:prstGeom prst="rect">
            <a:avLst/>
          </a:prstGeom>
          <a:noFill/>
        </p:spPr>
        <p:txBody>
          <a:bodyPr wrap="square">
            <a:spAutoFit/>
          </a:bodyPr>
          <a:lstStyle/>
          <a:p>
            <a:pPr algn="l"/>
            <a:r>
              <a:rPr sz="1100" b="0">
                <a:solidFill>
                  <a:srgbClr val="FFFFFF"/>
                </a:solidFill>
                <a:latin typeface="Trebuchet MS"/>
              </a:rPr>
              <a:t>• No responsive viewport</a:t>
            </a:r>
          </a:p>
        </p:txBody>
      </p:sp>
      <p:sp>
        <p:nvSpPr>
          <p:cNvPr id="5" name="TextBox 4"/>
          <p:cNvSpPr txBox="1"/>
          <p:nvPr/>
        </p:nvSpPr>
        <p:spPr>
          <a:xfrm>
            <a:off x="640080" y="2240280"/>
            <a:ext cx="2651760" cy="731520"/>
          </a:xfrm>
          <a:prstGeom prst="rect">
            <a:avLst/>
          </a:prstGeom>
          <a:noFill/>
        </p:spPr>
        <p:txBody>
          <a:bodyPr wrap="square">
            <a:spAutoFit/>
          </a:bodyPr>
          <a:lstStyle/>
          <a:p>
            <a:pPr algn="l"/>
            <a:r>
              <a:rPr sz="1100" b="0">
                <a:solidFill>
                  <a:srgbClr val="FFFFFF"/>
                </a:solidFill>
                <a:latin typeface="Trebuchet MS"/>
              </a:rPr>
              <a:t>• No responsive viewport declared</a:t>
            </a:r>
          </a:p>
        </p:txBody>
      </p:sp>
      <p:sp>
        <p:nvSpPr>
          <p:cNvPr id="6" name="TextBox 5"/>
          <p:cNvSpPr txBox="1"/>
          <p:nvPr/>
        </p:nvSpPr>
        <p:spPr>
          <a:xfrm>
            <a:off x="3474720" y="1188720"/>
            <a:ext cx="2651760" cy="365760"/>
          </a:xfrm>
          <a:prstGeom prst="rect">
            <a:avLst/>
          </a:prstGeom>
          <a:noFill/>
        </p:spPr>
        <p:txBody>
          <a:bodyPr wrap="square">
            <a:spAutoFit/>
          </a:bodyPr>
          <a:lstStyle/>
          <a:p>
            <a:pPr algn="l"/>
            <a:r>
              <a:rPr sz="1500" b="1">
                <a:solidFill>
                  <a:srgbClr val="008061"/>
                </a:solidFill>
                <a:latin typeface="Trebuchet MS"/>
              </a:rPr>
              <a:t>Week 2</a:t>
            </a:r>
          </a:p>
        </p:txBody>
      </p:sp>
      <p:sp>
        <p:nvSpPr>
          <p:cNvPr id="7" name="TextBox 6"/>
          <p:cNvSpPr txBox="1"/>
          <p:nvPr/>
        </p:nvSpPr>
        <p:spPr>
          <a:xfrm>
            <a:off x="3474720" y="1737360"/>
            <a:ext cx="2651760" cy="731520"/>
          </a:xfrm>
          <a:prstGeom prst="rect">
            <a:avLst/>
          </a:prstGeom>
          <a:noFill/>
        </p:spPr>
        <p:txBody>
          <a:bodyPr wrap="square">
            <a:spAutoFit/>
          </a:bodyPr>
          <a:lstStyle/>
          <a:p>
            <a:pPr algn="l"/>
            <a:r>
              <a:rPr sz="1100" b="0">
                <a:solidFill>
                  <a:srgbClr val="FFFFFF"/>
                </a:solidFill>
                <a:latin typeface="Trebuchet MS"/>
              </a:rPr>
              <a:t>• Missing security headers</a:t>
            </a:r>
          </a:p>
        </p:txBody>
      </p:sp>
      <p:sp>
        <p:nvSpPr>
          <p:cNvPr id="8" name="TextBox 7"/>
          <p:cNvSpPr txBox="1"/>
          <p:nvPr/>
        </p:nvSpPr>
        <p:spPr>
          <a:xfrm>
            <a:off x="6309360" y="1188720"/>
            <a:ext cx="2651760" cy="365760"/>
          </a:xfrm>
          <a:prstGeom prst="rect">
            <a:avLst/>
          </a:prstGeom>
          <a:noFill/>
        </p:spPr>
        <p:txBody>
          <a:bodyPr wrap="square">
            <a:spAutoFit/>
          </a:bodyPr>
          <a:lstStyle/>
          <a:p>
            <a:pPr algn="l"/>
            <a:r>
              <a:rPr sz="1500" b="1">
                <a:solidFill>
                  <a:srgbClr val="008061"/>
                </a:solidFill>
                <a:latin typeface="Trebuchet MS"/>
              </a:rPr>
              <a:t>Week 3</a:t>
            </a:r>
          </a:p>
        </p:txBody>
      </p:sp>
      <p:sp>
        <p:nvSpPr>
          <p:cNvPr id="9" name="TextBox 8"/>
          <p:cNvSpPr txBox="1"/>
          <p:nvPr/>
        </p:nvSpPr>
        <p:spPr>
          <a:xfrm>
            <a:off x="6309360" y="1737360"/>
            <a:ext cx="2651760" cy="731520"/>
          </a:xfrm>
          <a:prstGeom prst="rect">
            <a:avLst/>
          </a:prstGeom>
          <a:noFill/>
        </p:spPr>
        <p:txBody>
          <a:bodyPr wrap="square">
            <a:spAutoFit/>
          </a:bodyPr>
          <a:lstStyle/>
          <a:p>
            <a:pPr algn="l"/>
            <a:r>
              <a:rPr sz="1100" b="0">
                <a:solidFill>
                  <a:srgbClr val="FFFFFF"/>
                </a:solidFill>
                <a:latin typeface="Trebuchet MS"/>
              </a:rPr>
              <a:t>• Weak page metadata</a:t>
            </a:r>
          </a:p>
        </p:txBody>
      </p:sp>
      <p:sp>
        <p:nvSpPr>
          <p:cNvPr id="10" name="TextBox 9"/>
          <p:cNvSpPr txBox="1"/>
          <p:nvPr/>
        </p:nvSpPr>
        <p:spPr>
          <a:xfrm>
            <a:off x="6309360" y="2240280"/>
            <a:ext cx="2651760" cy="731520"/>
          </a:xfrm>
          <a:prstGeom prst="rect">
            <a:avLst/>
          </a:prstGeom>
          <a:noFill/>
        </p:spPr>
        <p:txBody>
          <a:bodyPr wrap="square">
            <a:spAutoFit/>
          </a:bodyPr>
          <a:lstStyle/>
          <a:p>
            <a:pPr algn="l"/>
            <a:r>
              <a:rPr sz="1100" b="0">
                <a:solidFill>
                  <a:srgbClr val="FFFFFF"/>
                </a:solidFill>
                <a:latin typeface="Trebuchet MS"/>
              </a:rPr>
              <a:t>• Missing trust signals above the fold</a:t>
            </a:r>
          </a:p>
        </p:txBody>
      </p:sp>
      <p:sp>
        <p:nvSpPr>
          <p:cNvPr id="11" name="TextBox 10"/>
          <p:cNvSpPr txBox="1"/>
          <p:nvPr/>
        </p:nvSpPr>
        <p:spPr>
          <a:xfrm>
            <a:off x="9144000" y="1188720"/>
            <a:ext cx="2651760" cy="365760"/>
          </a:xfrm>
          <a:prstGeom prst="rect">
            <a:avLst/>
          </a:prstGeom>
          <a:noFill/>
        </p:spPr>
        <p:txBody>
          <a:bodyPr wrap="square">
            <a:spAutoFit/>
          </a:bodyPr>
          <a:lstStyle/>
          <a:p>
            <a:pPr algn="l"/>
            <a:r>
              <a:rPr sz="1500" b="1">
                <a:solidFill>
                  <a:srgbClr val="008061"/>
                </a:solidFill>
                <a:latin typeface="Trebuchet MS"/>
              </a:rPr>
              <a:t>Week 4</a:t>
            </a:r>
          </a:p>
        </p:txBody>
      </p:sp>
      <p:sp>
        <p:nvSpPr>
          <p:cNvPr id="12" name="TextBox 11"/>
          <p:cNvSpPr txBox="1"/>
          <p:nvPr/>
        </p:nvSpPr>
        <p:spPr>
          <a:xfrm>
            <a:off x="9144000" y="1737360"/>
            <a:ext cx="2651760" cy="731520"/>
          </a:xfrm>
          <a:prstGeom prst="rect">
            <a:avLst/>
          </a:prstGeom>
          <a:noFill/>
        </p:spPr>
        <p:txBody>
          <a:bodyPr wrap="square">
            <a:spAutoFit/>
          </a:bodyPr>
          <a:lstStyle/>
          <a:p>
            <a:pPr algn="l"/>
            <a:r>
              <a:rPr sz="1100" b="0">
                <a:solidFill>
                  <a:srgbClr val="FFFFFF"/>
                </a:solidFill>
                <a:latin typeface="Trebuchet MS"/>
              </a:rPr>
              <a:t>• Missing trust signals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548640"/>
            <a:ext cx="10515600" cy="457200"/>
          </a:xfrm>
          <a:prstGeom prst="rect">
            <a:avLst/>
          </a:prstGeom>
          <a:noFill/>
        </p:spPr>
        <p:txBody>
          <a:bodyPr wrap="square">
            <a:spAutoFit/>
          </a:bodyPr>
          <a:lstStyle/>
          <a:p>
            <a:pPr algn="l"/>
            <a:r>
              <a:rPr sz="1300" b="1">
                <a:solidFill>
                  <a:srgbClr val="3DB891"/>
                </a:solidFill>
                <a:latin typeface="Trebuchet MS"/>
              </a:rPr>
              <a:t>HOW TO READ THIS</a:t>
            </a:r>
          </a:p>
        </p:txBody>
      </p:sp>
      <p:sp>
        <p:nvSpPr>
          <p:cNvPr id="3" name="TextBox 2"/>
          <p:cNvSpPr txBox="1"/>
          <p:nvPr/>
        </p:nvSpPr>
        <p:spPr>
          <a:xfrm>
            <a:off x="822960" y="1280160"/>
            <a:ext cx="10515600" cy="4206240"/>
          </a:xfrm>
          <a:prstGeom prst="rect">
            <a:avLst/>
          </a:prstGeom>
          <a:noFill/>
        </p:spPr>
        <p:txBody>
          <a:bodyPr wrap="square">
            <a:spAutoFit/>
          </a:bodyPr>
          <a:lstStyle/>
          <a:p>
            <a:pPr algn="l"/>
            <a:r>
              <a:rPr sz="1500" b="0">
                <a:solidFill>
                  <a:srgbClr val="FFFFFF"/>
                </a:solidFill>
                <a:latin typeface="Trebuchet MS"/>
              </a:rPr>
              <a:t>7 independent analysts reviewed the live site: six heuristic specialists plus one deterministic measurement pass (Core Web Vitals field data, accessibility, security headers, SEO metadata).
Findings marked 'verified' are reproducible measurements. Everything else is expert inspection with quoted evidence — a hypothesis until tested.
Every number in the report carries its arithmetic: click 'How is this calculated?' next to any figure. Opportunity ranges assume the change ships AND wins; they are never forecasts.
Full evidence, PXL scoring, developer specs and experiment designs are in the web report.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